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5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wei Teo" userId="e86e170ac314e7d7" providerId="LiveId" clId="{65B97A89-D34F-477E-A506-D08C895E655B}"/>
    <pc:docChg chg="custSel modSld">
      <pc:chgData name="Ruwei Teo" userId="e86e170ac314e7d7" providerId="LiveId" clId="{65B97A89-D34F-477E-A506-D08C895E655B}" dt="2026-10-10T03:07:09.057" v="62" actId="20577"/>
      <pc:docMkLst>
        <pc:docMk/>
      </pc:docMkLst>
      <pc:sldChg chg="modSp mod">
        <pc:chgData name="Ruwei Teo" userId="e86e170ac314e7d7" providerId="LiveId" clId="{65B97A89-D34F-477E-A506-D08C895E655B}" dt="2026-10-10T02:58:14.590" v="5" actId="208"/>
        <pc:sldMkLst>
          <pc:docMk/>
          <pc:sldMk cId="0" sldId="256"/>
        </pc:sldMkLst>
        <pc:spChg chg="mod">
          <ac:chgData name="Ruwei Teo" userId="e86e170ac314e7d7" providerId="LiveId" clId="{65B97A89-D34F-477E-A506-D08C895E655B}" dt="2026-10-10T02:58:09.085" v="1" actId="208"/>
          <ac:spMkLst>
            <pc:docMk/>
            <pc:sldMk cId="0" sldId="256"/>
            <ac:spMk id="4" creationId="{00000000-0000-0000-0000-000000000000}"/>
          </ac:spMkLst>
        </pc:spChg>
        <pc:spChg chg="mod">
          <ac:chgData name="Ruwei Teo" userId="e86e170ac314e7d7" providerId="LiveId" clId="{65B97A89-D34F-477E-A506-D08C895E655B}" dt="2026-10-10T02:58:12.178" v="3" actId="208"/>
          <ac:spMkLst>
            <pc:docMk/>
            <pc:sldMk cId="0" sldId="256"/>
            <ac:spMk id="5" creationId="{00000000-0000-0000-0000-000000000000}"/>
          </ac:spMkLst>
        </pc:spChg>
        <pc:spChg chg="mod">
          <ac:chgData name="Ruwei Teo" userId="e86e170ac314e7d7" providerId="LiveId" clId="{65B97A89-D34F-477E-A506-D08C895E655B}" dt="2026-10-10T02:58:14.590" v="5" actId="20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Ruwei Teo" userId="e86e170ac314e7d7" providerId="LiveId" clId="{65B97A89-D34F-477E-A506-D08C895E655B}" dt="2026-10-10T02:59:44.646" v="6" actId="208"/>
        <pc:sldMkLst>
          <pc:docMk/>
          <pc:sldMk cId="0" sldId="257"/>
        </pc:sldMkLst>
        <pc:spChg chg="mod">
          <ac:chgData name="Ruwei Teo" userId="e86e170ac314e7d7" providerId="LiveId" clId="{65B97A89-D34F-477E-A506-D08C895E655B}" dt="2026-10-10T02:59:44.646" v="6" actId="208"/>
          <ac:spMkLst>
            <pc:docMk/>
            <pc:sldMk cId="0" sldId="257"/>
            <ac:spMk id="14" creationId="{00000000-0000-0000-0000-000000000000}"/>
          </ac:spMkLst>
        </pc:spChg>
      </pc:sldChg>
      <pc:sldChg chg="delSp modSp mod">
        <pc:chgData name="Ruwei Teo" userId="e86e170ac314e7d7" providerId="LiveId" clId="{65B97A89-D34F-477E-A506-D08C895E655B}" dt="2026-10-10T03:05:31.517" v="55" actId="1036"/>
        <pc:sldMkLst>
          <pc:docMk/>
          <pc:sldMk cId="0" sldId="258"/>
        </pc:sldMkLst>
        <pc:spChg chg="del mod">
          <ac:chgData name="Ruwei Teo" userId="e86e170ac314e7d7" providerId="LiveId" clId="{65B97A89-D34F-477E-A506-D08C895E655B}" dt="2026-10-10T03:05:26.234" v="30" actId="478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uwei Teo" userId="e86e170ac314e7d7" providerId="LiveId" clId="{65B97A89-D34F-477E-A506-D08C895E655B}" dt="2026-10-10T03:05:31.517" v="55" actId="103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Ruwei Teo" userId="e86e170ac314e7d7" providerId="LiveId" clId="{65B97A89-D34F-477E-A506-D08C895E655B}" dt="2026-10-10T03:05:31.517" v="55" actId="103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Ruwei Teo" userId="e86e170ac314e7d7" providerId="LiveId" clId="{65B97A89-D34F-477E-A506-D08C895E655B}" dt="2026-10-10T03:05:31.517" v="55" actId="1036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Ruwei Teo" userId="e86e170ac314e7d7" providerId="LiveId" clId="{65B97A89-D34F-477E-A506-D08C895E655B}" dt="2026-10-10T03:07:09.057" v="62" actId="20577"/>
        <pc:sldMkLst>
          <pc:docMk/>
          <pc:sldMk cId="0" sldId="259"/>
        </pc:sldMkLst>
        <pc:spChg chg="mod">
          <ac:chgData name="Ruwei Teo" userId="e86e170ac314e7d7" providerId="LiveId" clId="{65B97A89-D34F-477E-A506-D08C895E655B}" dt="2026-10-10T03:07:07.186" v="61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Ruwei Teo" userId="e86e170ac314e7d7" providerId="LiveId" clId="{65B97A89-D34F-477E-A506-D08C895E655B}" dt="2026-10-10T03:07:04.975" v="60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Ruwei Teo" userId="e86e170ac314e7d7" providerId="LiveId" clId="{65B97A89-D34F-477E-A506-D08C895E655B}" dt="2026-10-10T03:07:02.934" v="59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Ruwei Teo" userId="e86e170ac314e7d7" providerId="LiveId" clId="{65B97A89-D34F-477E-A506-D08C895E655B}" dt="2026-10-10T03:07:00.438" v="5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Ruwei Teo" userId="e86e170ac314e7d7" providerId="LiveId" clId="{65B97A89-D34F-477E-A506-D08C895E655B}" dt="2026-10-10T03:07:09.057" v="62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Ruwei Teo" userId="e86e170ac314e7d7" providerId="LiveId" clId="{65B97A89-D34F-477E-A506-D08C895E655B}" dt="2026-10-10T03:01:36.089" v="27" actId="208"/>
          <ac:spMkLst>
            <pc:docMk/>
            <pc:sldMk cId="0" sldId="259"/>
            <ac:spMk id="9" creationId="{00000000-0000-0000-0000-000000000000}"/>
          </ac:spMkLst>
        </pc:spChg>
        <pc:spChg chg="mod">
          <ac:chgData name="Ruwei Teo" userId="e86e170ac314e7d7" providerId="LiveId" clId="{65B97A89-D34F-477E-A506-D08C895E655B}" dt="2026-10-10T03:05:40.009" v="56" actId="20577"/>
          <ac:spMkLst>
            <pc:docMk/>
            <pc:sldMk cId="0" sldId="259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0E243D"/>
                </a:solidFill>
                <a:latin typeface="Arial"/>
              </a:rPr>
              <a:t>AWS Data Ingestion &amp; Exploitation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21792"/>
            <a:ext cx="11338560" cy="243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980" dirty="0">
                <a:solidFill>
                  <a:srgbClr val="59626E"/>
                </a:solidFill>
                <a:latin typeface="Arial"/>
              </a:rPr>
              <a:t>Overview</a:t>
            </a:r>
            <a:endParaRPr sz="980" b="0" dirty="0">
              <a:solidFill>
                <a:srgbClr val="59626E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2926080" cy="10972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397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2937"/>
                </a:solidFill>
                <a:latin typeface="Arial"/>
              </a:rPr>
              <a:t>Design Goal
</a:t>
            </a:r>
            <a:r>
              <a:rPr sz="1100" dirty="0">
                <a:solidFill>
                  <a:srgbClr val="1F2937"/>
                </a:solidFill>
                <a:latin typeface="Arial"/>
              </a:rPr>
              <a:t>Operationalize ETL from data.gov.sg into AWS S3 data lake and serve Tableau privately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143000"/>
            <a:ext cx="2926080" cy="10972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397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2937"/>
                </a:solidFill>
                <a:latin typeface="Arial"/>
              </a:rPr>
              <a:t>Core Principle
</a:t>
            </a:r>
            <a:r>
              <a:rPr sz="1100" dirty="0">
                <a:solidFill>
                  <a:srgbClr val="1F2937"/>
                </a:solidFill>
                <a:latin typeface="Arial"/>
              </a:rPr>
              <a:t>Public source ingestion is controlled; internal data movement stays private wherever possible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143000"/>
            <a:ext cx="2926080" cy="10972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397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1F2937"/>
                </a:solidFill>
                <a:latin typeface="Arial"/>
              </a:rPr>
              <a:t>Main Outputs
</a:t>
            </a:r>
            <a:r>
              <a:rPr sz="1100" dirty="0">
                <a:solidFill>
                  <a:srgbClr val="1F2937"/>
                </a:solidFill>
                <a:latin typeface="Arial"/>
              </a:rPr>
              <a:t>Raw • Cleaned • Transformed • Quarantined • Hashed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141732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80" b="1">
                <a:solidFill>
                  <a:srgbClr val="1F2937"/>
                </a:solidFill>
                <a:latin typeface="Arial"/>
              </a:rPr>
              <a:t>EventBridge
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3108960"/>
            <a:ext cx="141732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80" b="1">
                <a:solidFill>
                  <a:srgbClr val="1F2937"/>
                </a:solidFill>
                <a:latin typeface="Arial"/>
              </a:rPr>
              <a:t>Step Functions
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108960"/>
            <a:ext cx="141732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80" b="1">
                <a:solidFill>
                  <a:srgbClr val="1F2937"/>
                </a:solidFill>
                <a:latin typeface="Arial"/>
              </a:rPr>
              <a:t>Fargate
Ingestion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108960"/>
            <a:ext cx="141732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80" b="1" dirty="0">
                <a:solidFill>
                  <a:srgbClr val="1F2937"/>
                </a:solidFill>
                <a:latin typeface="Arial"/>
              </a:rPr>
              <a:t>S3 Raw
Immutable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08960"/>
            <a:ext cx="141732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80" b="1">
                <a:solidFill>
                  <a:srgbClr val="1F2937"/>
                </a:solidFill>
                <a:latin typeface="Arial"/>
              </a:rPr>
              <a:t>Glue ETL
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3108960"/>
            <a:ext cx="141732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80" b="1">
                <a:solidFill>
                  <a:srgbClr val="1F2937"/>
                </a:solidFill>
                <a:latin typeface="Arial"/>
              </a:rPr>
              <a:t>Athena
SQL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3456432"/>
            <a:ext cx="502920" cy="0"/>
          </a:xfrm>
          <a:prstGeom prst="line">
            <a:avLst/>
          </a:prstGeom>
          <a:ln w="190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3456432"/>
            <a:ext cx="640080" cy="0"/>
          </a:xfrm>
          <a:prstGeom prst="line">
            <a:avLst/>
          </a:prstGeom>
          <a:ln w="190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97880" y="3456432"/>
            <a:ext cx="548640" cy="0"/>
          </a:xfrm>
          <a:prstGeom prst="line">
            <a:avLst/>
          </a:prstGeom>
          <a:ln w="190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63840" y="3456432"/>
            <a:ext cx="411480" cy="0"/>
          </a:xfrm>
          <a:prstGeom prst="line">
            <a:avLst/>
          </a:prstGeom>
          <a:ln w="190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2640" y="3456432"/>
            <a:ext cx="502920" cy="0"/>
          </a:xfrm>
          <a:prstGeom prst="line">
            <a:avLst/>
          </a:prstGeom>
          <a:ln w="190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663440"/>
            <a:ext cx="3474720" cy="12344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rgbClr val="0E243D"/>
                </a:solidFill>
                <a:latin typeface="Arial"/>
              </a:rPr>
              <a:t>Security</a:t>
            </a:r>
            <a:endParaRPr lang="en-SG" sz="1200" b="1" dirty="0">
              <a:solidFill>
                <a:srgbClr val="0E243D"/>
              </a:solidFill>
              <a:latin typeface="Arial"/>
            </a:endParaRPr>
          </a:p>
          <a:p>
            <a:pPr algn="ctr"/>
            <a:endParaRPr sz="1050" b="1" dirty="0">
              <a:solidFill>
                <a:srgbClr val="0E243D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Private subnets for compute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NAT only for outbound public API calls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S3/KMS/IAM/Secrets Manager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VPC endpoints for AWS service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663440"/>
            <a:ext cx="3474720" cy="12344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rgbClr val="0E243D"/>
                </a:solidFill>
                <a:latin typeface="Arial"/>
              </a:rPr>
              <a:t>Reliability</a:t>
            </a:r>
            <a:endParaRPr lang="en-SG" sz="1200" b="1" dirty="0">
              <a:solidFill>
                <a:srgbClr val="0E243D"/>
              </a:solidFill>
              <a:latin typeface="Arial"/>
            </a:endParaRPr>
          </a:p>
          <a:p>
            <a:pPr algn="ctr"/>
            <a:endParaRPr sz="1200" b="1" dirty="0">
              <a:solidFill>
                <a:srgbClr val="0E243D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Step Functions retries/backoff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S3 raw replay and versioning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CloudWatch alarms and logs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Quarantine instead of silent record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663440"/>
            <a:ext cx="3474720" cy="12344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rgbClr val="0E243D"/>
                </a:solidFill>
                <a:latin typeface="Arial"/>
              </a:rPr>
              <a:t>Performance</a:t>
            </a:r>
            <a:endParaRPr lang="en-SG" sz="1200" b="1" dirty="0">
              <a:solidFill>
                <a:srgbClr val="0E243D"/>
              </a:solidFill>
              <a:latin typeface="Arial"/>
            </a:endParaRPr>
          </a:p>
          <a:p>
            <a:pPr algn="ctr"/>
            <a:endParaRPr sz="1000" b="1" dirty="0">
              <a:solidFill>
                <a:srgbClr val="0E243D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Curated Parquet</a:t>
            </a:r>
            <a:endParaRPr lang="en-SG" sz="1000" dirty="0"/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Partitioned by year/month as needed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Glue Catalog + Athena partition pruning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Tableau consumes curated 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0E243D"/>
                </a:solidFill>
                <a:latin typeface="Arial"/>
              </a:rPr>
              <a:t>Batch Ingestion &amp; ETL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2179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59626E"/>
                </a:solidFill>
                <a:latin typeface="Arial"/>
              </a:rPr>
              <a:t>Purpose: ingest public data.gov.sg files into private HDB data platform and produce Raw/Cleaned/Transformed/Quarantined/Hashed S3 zones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74420"/>
            <a:ext cx="11750040" cy="5440680"/>
          </a:xfrm>
          <a:prstGeom prst="roundRect">
            <a:avLst/>
          </a:prstGeom>
          <a:solidFill>
            <a:srgbClr val="F9FAFB"/>
          </a:solidFill>
          <a:ln w="15240">
            <a:solidFill>
              <a:srgbClr val="C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100" b="1">
                <a:solidFill>
                  <a:srgbClr val="C8CDD7"/>
                </a:solidFill>
                <a:latin typeface="Arial"/>
              </a:rPr>
              <a:t>Network and processing 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194560" cy="4526280"/>
          </a:xfrm>
          <a:prstGeom prst="roundRect">
            <a:avLst/>
          </a:prstGeom>
          <a:solidFill>
            <a:srgbClr val="FFF1E0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endParaRPr sz="1100" b="1" dirty="0">
              <a:solidFill>
                <a:srgbClr val="E67E22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71800" y="1234440"/>
            <a:ext cx="8732520" cy="4526280"/>
          </a:xfrm>
          <a:prstGeom prst="roundRect">
            <a:avLst/>
          </a:prstGeom>
          <a:solidFill>
            <a:srgbClr val="E0EEF9"/>
          </a:solidFill>
          <a:ln w="1524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endParaRPr lang="en-SG" sz="1100" b="1" dirty="0">
              <a:solidFill>
                <a:srgbClr val="2D69A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6002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data.gov.sg
Collection 189
API +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16002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Internet
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16002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NAT Gateway
Public Subnet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27632" y="2514600"/>
            <a:ext cx="0" cy="548640"/>
          </a:xfrm>
          <a:prstGeom prst="line">
            <a:avLst/>
          </a:prstGeom>
          <a:ln w="1778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27632" y="3657600"/>
            <a:ext cx="0" cy="411480"/>
          </a:xfrm>
          <a:prstGeom prst="line">
            <a:avLst/>
          </a:prstGeom>
          <a:ln w="1778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1691640"/>
            <a:ext cx="141732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 err="1">
                <a:solidFill>
                  <a:srgbClr val="1F2937"/>
                </a:solidFill>
                <a:latin typeface="Arial"/>
              </a:rPr>
              <a:t>EventBridge</a:t>
            </a:r>
            <a:r>
              <a:rPr sz="1000" b="1" dirty="0">
                <a:solidFill>
                  <a:srgbClr val="1F2937"/>
                </a:solidFill>
                <a:latin typeface="Arial"/>
              </a:rPr>
              <a:t>
Scheduler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743200"/>
            <a:ext cx="141732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Step Functions
Retries +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057400"/>
            <a:ext cx="160020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ECS </a:t>
            </a:r>
            <a:r>
              <a:rPr sz="1000" b="1" dirty="0" err="1">
                <a:solidFill>
                  <a:srgbClr val="1F2937"/>
                </a:solidFill>
                <a:latin typeface="Arial"/>
              </a:rPr>
              <a:t>Fargate</a:t>
            </a:r>
            <a:r>
              <a:rPr sz="1000" b="1" dirty="0">
                <a:solidFill>
                  <a:srgbClr val="1F2937"/>
                </a:solidFill>
                <a:latin typeface="Arial"/>
              </a:rPr>
              <a:t>
Ingestion Task
API + streaming
S3 multipart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600200"/>
            <a:ext cx="155448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S3 Raw
CSV as-is
versioned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43200"/>
            <a:ext cx="155448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AWS Glue ETL
DQ + transform
Parquet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16459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Cleaned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011680"/>
            <a:ext cx="16459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Transformed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606040"/>
            <a:ext cx="16459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Quarantined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3200400"/>
            <a:ext cx="16459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Hashed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007436"/>
            <a:ext cx="155448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Glue Data
Catalog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41648" y="2286000"/>
            <a:ext cx="0" cy="457200"/>
          </a:xfrm>
          <a:prstGeom prst="line">
            <a:avLst/>
          </a:prstGeom>
          <a:ln w="1651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54880" y="2514600"/>
            <a:ext cx="548640" cy="548640"/>
          </a:xfrm>
          <a:prstGeom prst="line">
            <a:avLst/>
          </a:prstGeom>
          <a:ln w="1651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03720" y="1965960"/>
            <a:ext cx="502920" cy="521208"/>
          </a:xfrm>
          <a:prstGeom prst="line">
            <a:avLst/>
          </a:prstGeom>
          <a:ln w="16510">
            <a:solidFill>
              <a:srgbClr val="54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83879" y="2286000"/>
            <a:ext cx="0" cy="457200"/>
          </a:xfrm>
          <a:prstGeom prst="line">
            <a:avLst/>
          </a:prstGeom>
          <a:ln w="1651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61120" y="1673352"/>
            <a:ext cx="594360" cy="1463040"/>
          </a:xfrm>
          <a:prstGeom prst="line">
            <a:avLst/>
          </a:prstGeom>
          <a:ln w="13970">
            <a:solidFill>
              <a:srgbClr val="54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961120" y="2267712"/>
            <a:ext cx="594360" cy="868680"/>
          </a:xfrm>
          <a:prstGeom prst="line">
            <a:avLst/>
          </a:prstGeom>
          <a:ln w="13970">
            <a:solidFill>
              <a:srgbClr val="54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961120" y="2862072"/>
            <a:ext cx="594360" cy="274320"/>
          </a:xfrm>
          <a:prstGeom prst="line">
            <a:avLst/>
          </a:prstGeom>
          <a:ln w="1397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0" y="3136392"/>
            <a:ext cx="594360" cy="320040"/>
          </a:xfrm>
          <a:prstGeom prst="line">
            <a:avLst/>
          </a:prstGeom>
          <a:ln w="13970">
            <a:solidFill>
              <a:srgbClr val="54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endCxn id="21" idx="0"/>
          </p:cNvCxnSpPr>
          <p:nvPr/>
        </p:nvCxnSpPr>
        <p:spPr>
          <a:xfrm>
            <a:off x="8183879" y="3520440"/>
            <a:ext cx="1" cy="486996"/>
          </a:xfrm>
          <a:prstGeom prst="line">
            <a:avLst/>
          </a:prstGeom>
          <a:ln w="16510">
            <a:solidFill>
              <a:srgbClr val="705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317012" y="4771831"/>
            <a:ext cx="196596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Secrets + IAM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HMAC/API secrets in Secrets Manager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least-privilege roles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20132" y="4771831"/>
            <a:ext cx="196596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Private AWS Access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S3 Gateway VPC Endpoint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CloudWatch/Secrets interface endpoints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23252" y="4771831"/>
            <a:ext cx="196596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Monitoring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CloudWatch logs/metrics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alarms for failure &amp; row-count drift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26372" y="4771831"/>
            <a:ext cx="182880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Storage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SSE-KMS encryption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Block Public Access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C9F5F99-9E00-8597-46FA-0E2A971B7A3D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432305" y="2926080"/>
            <a:ext cx="3671315" cy="1440180"/>
          </a:xfrm>
          <a:prstGeom prst="bentConnector2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E33A55-7E7E-657B-7036-1B05FBE79842}"/>
              </a:ext>
            </a:extLst>
          </p:cNvPr>
          <p:cNvSpPr txBox="1"/>
          <p:nvPr/>
        </p:nvSpPr>
        <p:spPr>
          <a:xfrm>
            <a:off x="3065808" y="3448716"/>
            <a:ext cx="2143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b="1" dirty="0">
                <a:solidFill>
                  <a:srgbClr val="2D69AA"/>
                </a:solidFill>
                <a:latin typeface="Arial"/>
              </a:rPr>
              <a:t>HDB Data Platform VPC </a:t>
            </a:r>
          </a:p>
          <a:p>
            <a:pPr algn="ctr"/>
            <a:r>
              <a:rPr lang="en-SG" sz="1000" b="1" dirty="0">
                <a:solidFill>
                  <a:srgbClr val="2D69AA"/>
                </a:solidFill>
                <a:latin typeface="Arial"/>
              </a:rPr>
              <a:t>(private subnets for compute)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0E243D"/>
                </a:solidFill>
                <a:latin typeface="Arial"/>
              </a:rPr>
              <a:t>Data Exploitation by Tableau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2179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59626E"/>
                </a:solidFill>
                <a:latin typeface="Arial"/>
              </a:rPr>
              <a:t>Purpose: Tableau in another private VPC queries governed curated data without exposing the data lake publicly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583680" cy="5257800"/>
          </a:xfrm>
          <a:prstGeom prst="roundRect">
            <a:avLst/>
          </a:prstGeom>
          <a:solidFill>
            <a:srgbClr val="E0EEF9"/>
          </a:solidFill>
          <a:ln w="1524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endParaRPr sz="1100" b="1" dirty="0">
              <a:solidFill>
                <a:srgbClr val="2D69AA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06640" y="1005840"/>
            <a:ext cx="4297680" cy="5257800"/>
          </a:xfrm>
          <a:prstGeom prst="roundRect">
            <a:avLst/>
          </a:prstGeom>
          <a:solidFill>
            <a:srgbClr val="E7F5E8"/>
          </a:solidFill>
          <a:ln w="1524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lang="en-SG" sz="1100" b="1" dirty="0">
                <a:solidFill>
                  <a:srgbClr val="549953"/>
                </a:solidFill>
                <a:latin typeface="Arial"/>
              </a:rPr>
              <a:t>   </a:t>
            </a:r>
            <a:r>
              <a:rPr sz="1100" b="1" dirty="0">
                <a:solidFill>
                  <a:srgbClr val="549953"/>
                </a:solidFill>
                <a:latin typeface="Arial"/>
              </a:rPr>
              <a:t>Tableau VPC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146304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S3 Curated
Parquet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60320"/>
            <a:ext cx="146304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Hashed
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96670"/>
            <a:ext cx="146304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Transformed
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57400"/>
            <a:ext cx="150876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Glue Data
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57400"/>
            <a:ext cx="150876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Lake Formation
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429000"/>
            <a:ext cx="150876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Amazon Athena
SQL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057400"/>
            <a:ext cx="17373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Tableau Server
Private Subnet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2057400"/>
            <a:ext cx="141732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4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Analysts /
Data Science
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794760"/>
            <a:ext cx="35204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96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0" dirty="0">
                <a:solidFill>
                  <a:srgbClr val="1F2937"/>
                </a:solidFill>
                <a:latin typeface="Arial"/>
              </a:rPr>
              <a:t>Security group rules allow only approved private query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834640"/>
            <a:ext cx="9144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1F2937"/>
                </a:solidFill>
                <a:latin typeface="Arial"/>
              </a:rPr>
              <a:t>Transit
Gateway
(or Peering</a:t>
            </a:r>
            <a:r>
              <a:rPr sz="780" b="1" dirty="0">
                <a:solidFill>
                  <a:srgbClr val="1F2937"/>
                </a:solidFill>
                <a:latin typeface="Arial"/>
              </a:rPr>
              <a:t>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1938528"/>
            <a:ext cx="457200" cy="484632"/>
          </a:xfrm>
          <a:prstGeom prst="line">
            <a:avLst/>
          </a:prstGeom>
          <a:ln w="1651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31720" y="2423160"/>
            <a:ext cx="457200" cy="393192"/>
          </a:xfrm>
          <a:prstGeom prst="line">
            <a:avLst/>
          </a:prstGeom>
          <a:ln w="1397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31720" y="2423160"/>
            <a:ext cx="457200" cy="1069848"/>
          </a:xfrm>
          <a:prstGeom prst="line">
            <a:avLst/>
          </a:prstGeom>
          <a:ln w="1397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97680" y="2423160"/>
            <a:ext cx="365760" cy="0"/>
          </a:xfrm>
          <a:prstGeom prst="line">
            <a:avLst/>
          </a:prstGeom>
          <a:ln w="16510">
            <a:solidFill>
              <a:srgbClr val="705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13248" y="2834640"/>
            <a:ext cx="0" cy="594360"/>
          </a:xfrm>
          <a:prstGeom prst="line">
            <a:avLst/>
          </a:prstGeom>
          <a:ln w="16510">
            <a:solidFill>
              <a:srgbClr val="7054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72200" y="3182112"/>
            <a:ext cx="548640" cy="612648"/>
          </a:xfrm>
          <a:prstGeom prst="line">
            <a:avLst/>
          </a:prstGeom>
          <a:ln w="1651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35240" y="2468880"/>
            <a:ext cx="182880" cy="713232"/>
          </a:xfrm>
          <a:prstGeom prst="line">
            <a:avLst/>
          </a:prstGeom>
          <a:ln w="16510">
            <a:solidFill>
              <a:srgbClr val="54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2468880"/>
            <a:ext cx="365760" cy="0"/>
          </a:xfrm>
          <a:prstGeom prst="line">
            <a:avLst/>
          </a:prstGeom>
          <a:ln w="16510">
            <a:solidFill>
              <a:srgbClr val="54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8680" y="4800341"/>
            <a:ext cx="182880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Serving Pattern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Tableau queries Athena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Athena reads curated Parquet in S3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4800341"/>
            <a:ext cx="182880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Governance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Lake Formation table/column permissions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IAM role based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4800341"/>
            <a:ext cx="160020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Performance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Partition pruning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columnar scans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800600"/>
            <a:ext cx="3520440" cy="777240"/>
          </a:xfrm>
          <a:prstGeom prst="roundRect">
            <a:avLst/>
          </a:prstGeom>
          <a:solidFill>
            <a:srgbClr val="F5F7F9"/>
          </a:solidFill>
          <a:ln w="11430">
            <a:solidFill>
              <a:srgbClr val="0E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100" b="1" dirty="0">
                <a:solidFill>
                  <a:srgbClr val="0E243D"/>
                </a:solidFill>
                <a:latin typeface="Arial"/>
              </a:rPr>
              <a:t>Private Connectivity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Transit Gateway for multi-VPC enterprise topology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VPC Peering acceptable for two VPCs only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4DB022-A5E6-1263-FD8D-F0EB9A9DABE1}"/>
              </a:ext>
            </a:extLst>
          </p:cNvPr>
          <p:cNvSpPr txBox="1"/>
          <p:nvPr/>
        </p:nvSpPr>
        <p:spPr>
          <a:xfrm>
            <a:off x="724328" y="3880119"/>
            <a:ext cx="1751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b="1" dirty="0">
                <a:solidFill>
                  <a:srgbClr val="2D69AA"/>
                </a:solidFill>
                <a:latin typeface="Arial"/>
              </a:rPr>
              <a:t>HDB Data Platform VPC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243D"/>
                </a:solidFill>
                <a:latin typeface="Arial"/>
              </a:rPr>
              <a:t>Architecture Rationale and Operating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62179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59626E"/>
                </a:solidFill>
                <a:latin typeface="Arial"/>
              </a:rPr>
              <a:t>Security, reliability, scalability, performance and maintainability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057400" cy="43891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143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/>
              </a:rPr>
              <a:t>Security</a:t>
            </a:r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sz="1200" b="1" dirty="0">
              <a:solidFill>
                <a:schemeClr val="tx1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Private subnets for compute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NAT only for controlled outbound calls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S3 Block Public Access + SSE-KMS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Secrets Manager for HMAC/API keys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Least privilege IAM + Lake 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188720"/>
            <a:ext cx="2057400" cy="43891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143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/>
              </a:rPr>
              <a:t>Reliability</a:t>
            </a:r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sz="1200" b="1" dirty="0">
              <a:solidFill>
                <a:schemeClr val="tx1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Step Functions retries/backoff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S3 raw replay + versioning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Quarantine bad rows, do not drop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CloudWatch alarms and logs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Row-count and uniqueness assertions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188720"/>
            <a:ext cx="2057400" cy="43891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143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/>
              </a:rPr>
              <a:t>Scalability</a:t>
            </a:r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sz="1200" b="1" dirty="0">
              <a:solidFill>
                <a:schemeClr val="tx1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S3 scales object storage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 err="1"/>
              <a:t>Fargate</a:t>
            </a:r>
            <a:r>
              <a:rPr sz="1000" dirty="0"/>
              <a:t> scales ingestion tasks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Glue scales ETL with workers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Athena is serverless SQL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Decoupled zones support more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188720"/>
            <a:ext cx="2057400" cy="43891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143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/>
              </a:rPr>
              <a:t>Performance</a:t>
            </a:r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sz="1200" b="1" dirty="0">
              <a:solidFill>
                <a:schemeClr val="tx1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Curated Parquet not raw CSV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Compression such as Snappy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Partition by year/month as volume warrants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Glue Catalog enables partition pruning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Tableau queries Athena serving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188720"/>
            <a:ext cx="2057400" cy="43891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143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45720" bIns="27432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rial"/>
              </a:rPr>
              <a:t>Maintainability</a:t>
            </a:r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SG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sz="1200" b="1" dirty="0">
              <a:solidFill>
                <a:schemeClr val="tx1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Infrastructure as Code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Versioned container/ETL code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Config-driven pipeline rules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Generated profiling report</a:t>
            </a:r>
          </a:p>
          <a:p>
            <a:pPr marL="171450" indent="-171450">
              <a:buFont typeface="Arial" panose="020B0604020202020204" pitchFamily="34" charset="0"/>
              <a:buChar char="•"/>
              <a:defRPr sz="830">
                <a:solidFill>
                  <a:srgbClr val="1F2937"/>
                </a:solidFill>
                <a:latin typeface="Arial"/>
              </a:defRPr>
            </a:pPr>
            <a:r>
              <a:rPr sz="1000" dirty="0"/>
              <a:t>Clear contracts for five output zones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806440"/>
            <a:ext cx="4937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50" b="1">
                <a:solidFill>
                  <a:srgbClr val="1F2937"/>
                </a:solidFill>
                <a:latin typeface="Arial"/>
              </a:rPr>
              <a:t>Key trade-off: Fargate handles public API/download complexity; Glue handles scalable private ETL over S3.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5806440"/>
            <a:ext cx="4937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SG" sz="950" b="1" dirty="0">
                <a:solidFill>
                  <a:srgbClr val="1F2937"/>
                </a:solidFill>
                <a:latin typeface="Arial"/>
              </a:rPr>
              <a:t>N</a:t>
            </a:r>
            <a:r>
              <a:rPr sz="950" b="1" dirty="0">
                <a:solidFill>
                  <a:srgbClr val="1F2937"/>
                </a:solidFill>
                <a:latin typeface="Arial"/>
              </a:rPr>
              <a:t>o streaming/Kinesis/Redshift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588</Words>
  <Application>Microsoft Office PowerPoint</Application>
  <PresentationFormat>Widescreen</PresentationFormat>
  <Paragraphs>128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Ruwei Teo</dc:creator>
  <cp:keywords/>
  <dc:description>generated using python-pptx</dc:description>
  <cp:lastModifiedBy>Ruwei Teo</cp:lastModifiedBy>
  <cp:revision>2</cp:revision>
  <dcterms:created xsi:type="dcterms:W3CDTF">2013-01-27T09:14:16Z</dcterms:created>
  <dcterms:modified xsi:type="dcterms:W3CDTF">2026-10-10T03:07:13Z</dcterms:modified>
  <cp:category/>
</cp:coreProperties>
</file>